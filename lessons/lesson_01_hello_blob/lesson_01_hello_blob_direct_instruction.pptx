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7"/>
    <p:restoredTop sz="96122"/>
  </p:normalViewPr>
  <p:slideViewPr>
    <p:cSldViewPr snapToGrid="0" snapToObjects="1">
      <p:cViewPr varScale="1">
        <p:scale>
          <a:sx n="137" d="100"/>
          <a:sy n="137" d="100"/>
        </p:scale>
        <p:origin x="232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649720" y="1407922"/>
            <a:ext cx="4942840" cy="4453636"/>
          </a:xfrm>
          <a:prstGeom prst="roundRect">
            <a:avLst/>
          </a:prstGeom>
          <a:noFill/>
          <a:ln w="12700">
            <a:solidFill>
              <a:srgbClr val="BE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47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603504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2800" b="1">
                <a:solidFill>
                  <a:srgbClr val="1C2E4A"/>
                </a:solidFill>
                <a:latin typeface="Arial"/>
              </a:rPr>
              <a:t>Lesson 1: Hello, Blob!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566928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0">
                <a:solidFill>
                  <a:srgbClr val="383D47"/>
                </a:solidFill>
                <a:latin typeface="Arial"/>
              </a:rPr>
              <a:t>Direct instruction mini-deck for introducing the first Processing sketch.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53035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5720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800" b="1">
                <a:solidFill>
                  <a:srgbClr val="1C2E4A"/>
                </a:solidFill>
                <a:latin typeface="Arial"/>
              </a:rPr>
              <a:t>Today students learn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480560" cy="292608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83D47"/>
                </a:solidFill>
                <a:latin typeface="Arial"/>
              </a:rPr>
              <a:t>run a sketch in Processing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83D47"/>
                </a:solidFill>
                <a:latin typeface="Arial"/>
              </a:rPr>
              <a:t>tell the difference between setup() and draw()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83D47"/>
                </a:solidFill>
                <a:latin typeface="Arial"/>
              </a:rPr>
              <a:t>create and display a Blob object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83D47"/>
                </a:solidFill>
                <a:latin typeface="Arial"/>
              </a:rPr>
              <a:t>change the blob's color with RGB values</a:t>
            </a:r>
          </a:p>
        </p:txBody>
      </p:sp>
      <p:pic>
        <p:nvPicPr>
          <p:cNvPr id="8" name="Picture 7" descr="HelloBlob.m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33322"/>
            <a:ext cx="4892040" cy="44028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49440" y="5532120"/>
            <a:ext cx="4343400" cy="502920"/>
          </a:xfrm>
          <a:prstGeom prst="roundRect">
            <a:avLst/>
          </a:prstGeom>
          <a:solidFill>
            <a:srgbClr val="E8EFF6"/>
          </a:solidFill>
          <a:ln w="1905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78040" y="5641848"/>
            <a:ext cx="3931920" cy="2194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1C2E4A"/>
                </a:solidFill>
                <a:latin typeface="Arial"/>
              </a:rPr>
              <a:t>Students will build this sketch, then make it their 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77520" y="1542194"/>
            <a:ext cx="7366000" cy="4550851"/>
          </a:xfrm>
          <a:prstGeom prst="roundRect">
            <a:avLst/>
          </a:prstGeom>
          <a:noFill/>
          <a:ln w="12700">
            <a:solidFill>
              <a:srgbClr val="BE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559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E4A"/>
                </a:solidFill>
                <a:latin typeface="Arial"/>
              </a:rPr>
              <a:t>Tour the Processing Sketch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83D47"/>
                </a:solidFill>
                <a:latin typeface="Arial"/>
              </a:rPr>
              <a:t>Use the screenshot to orient students before you run anything.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7594"/>
            <a:ext cx="7315200" cy="45000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417320"/>
            <a:ext cx="3611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691640"/>
            <a:ext cx="301752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800" b="1">
                <a:solidFill>
                  <a:srgbClr val="1C2E4A"/>
                </a:solidFill>
                <a:latin typeface="Arial"/>
              </a:rPr>
              <a:t>Point out these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57400"/>
            <a:ext cx="3108960" cy="356616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83D47"/>
                </a:solidFill>
                <a:latin typeface="Arial"/>
              </a:rPr>
              <a:t>Play runs the sketch; Stop ends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83D47"/>
                </a:solidFill>
                <a:latin typeface="Arial"/>
              </a:rPr>
              <a:t>The import line tells Processing to use the SpriteGame tools.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83D47"/>
                </a:solidFill>
                <a:latin typeface="Arial"/>
              </a:rPr>
              <a:t>Blob myBlob; is the variable we will fill in during setup().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83D47"/>
                </a:solidFill>
                <a:latin typeface="Arial"/>
              </a:rPr>
              <a:t>The constructor line chooses the blob's position, size, and color.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5440680"/>
            <a:ext cx="3154680" cy="502920"/>
          </a:xfrm>
          <a:prstGeom prst="roundRect">
            <a:avLst/>
          </a:prstGeom>
          <a:solidFill>
            <a:srgbClr val="EEF7F5"/>
          </a:solidFill>
          <a:ln w="19050">
            <a:solidFill>
              <a:srgbClr val="EE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5559552"/>
            <a:ext cx="2834640" cy="20116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200" b="0">
                <a:solidFill>
                  <a:srgbClr val="1C2E4A"/>
                </a:solidFill>
                <a:latin typeface="Arial"/>
              </a:rPr>
              <a:t>Teacher move: ask students which line they think creates the blob.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559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E4A"/>
                </a:solidFill>
                <a:latin typeface="Arial"/>
              </a:rPr>
              <a:t>setup() Runs Once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83D47"/>
                </a:solidFill>
                <a:latin typeface="Arial"/>
              </a:rPr>
              <a:t>Metaphor: setup is like laying out the art supplies before class begins.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603504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760720" cy="1828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>
                <a:solidFill>
                  <a:srgbClr val="2D3E50"/>
                </a:solidFill>
                <a:latin typeface="Courier New"/>
              </a:rPr>
              <a:t>void setup() {
  size(800, 600);
  myBlob = new Blob(this, 400, 300, 40, color(255, 80, 80));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6035040" cy="1645920"/>
          </a:xfrm>
          <a:prstGeom prst="roundRect">
            <a:avLst/>
          </a:prstGeom>
          <a:solidFill>
            <a:srgbClr val="E8EFF6"/>
          </a:solidFill>
          <a:ln w="1905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5486400" cy="1097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700" b="0">
                <a:solidFill>
                  <a:srgbClr val="1C2E4A"/>
                </a:solidFill>
                <a:latin typeface="Arial"/>
              </a:rPr>
              <a:t>When the sketch starts, setup() creates the window and builds the blob one time. If something only needs to happen at the beginning, it belongs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645920"/>
            <a:ext cx="41148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800" b="1">
                <a:solidFill>
                  <a:srgbClr val="1C2E4A"/>
                </a:solidFill>
                <a:latin typeface="Arial"/>
              </a:rPr>
              <a:t>Constructor breakdown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011680"/>
            <a:ext cx="1920240" cy="914400"/>
          </a:xfrm>
          <a:prstGeom prst="roundRect">
            <a:avLst/>
          </a:prstGeom>
          <a:solidFill>
            <a:srgbClr val="E8EFF6"/>
          </a:solidFill>
          <a:ln w="1905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0608" y="2084832"/>
            <a:ext cx="170078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359152"/>
            <a:ext cx="1700784" cy="49377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Means this sketch. Students should leave it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011680"/>
            <a:ext cx="1920240" cy="914400"/>
          </a:xfrm>
          <a:prstGeom prst="roundRect">
            <a:avLst/>
          </a:prstGeom>
          <a:solidFill>
            <a:srgbClr val="EEF7F5"/>
          </a:solidFill>
          <a:ln w="19050">
            <a:solidFill>
              <a:srgbClr val="EE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53728" y="2084832"/>
            <a:ext cx="170078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400, 300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359152"/>
            <a:ext cx="1700784" cy="49377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The center x and y position of the blob.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154680"/>
            <a:ext cx="1920240" cy="914400"/>
          </a:xfrm>
          <a:prstGeom prst="roundRect">
            <a:avLst/>
          </a:prstGeom>
          <a:solidFill>
            <a:srgbClr val="FDF4DE"/>
          </a:solidFill>
          <a:ln w="19050">
            <a:solidFill>
              <a:srgbClr val="FD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0608" y="3227832"/>
            <a:ext cx="170078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3502152"/>
            <a:ext cx="1700784" cy="49377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The radius. Bigger number = bigger blob.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154680"/>
            <a:ext cx="1920240" cy="914400"/>
          </a:xfrm>
          <a:prstGeom prst="roundRect">
            <a:avLst/>
          </a:prstGeom>
          <a:solidFill>
            <a:srgbClr val="FCECE7"/>
          </a:solidFill>
          <a:ln w="19050">
            <a:solidFill>
              <a:srgbClr val="FC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53728" y="3227832"/>
            <a:ext cx="170078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color(...)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3502152"/>
            <a:ext cx="1700784" cy="49377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RGB values decide the fill color.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572000"/>
            <a:ext cx="3383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79" y="4736592"/>
            <a:ext cx="292608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D95B43"/>
                </a:solidFill>
                <a:latin typeface="Arial"/>
              </a:rPr>
              <a:t>Common reminder: forgetting the import line is the #1 reason this sketch will not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519667" y="1391920"/>
            <a:ext cx="9030745" cy="1971040"/>
          </a:xfrm>
          <a:prstGeom prst="roundRect">
            <a:avLst/>
          </a:prstGeom>
          <a:noFill/>
          <a:ln w="12700">
            <a:solidFill>
              <a:srgbClr val="BE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559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E4A"/>
                </a:solidFill>
                <a:latin typeface="Arial"/>
              </a:rPr>
              <a:t>draw() Runs Forever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83D47"/>
                </a:solidFill>
                <a:latin typeface="Arial"/>
              </a:rPr>
              <a:t>Each pass through draw() is a fresh frame in the animation.</a:t>
            </a:r>
          </a:p>
        </p:txBody>
      </p:sp>
      <p:pic>
        <p:nvPicPr>
          <p:cNvPr id="4" name="Picture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67" y="1417320"/>
            <a:ext cx="8979945" cy="1920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3749039"/>
            <a:ext cx="3520440" cy="1325880"/>
          </a:xfrm>
          <a:prstGeom prst="roundRect">
            <a:avLst/>
          </a:prstGeom>
          <a:solidFill>
            <a:srgbClr val="E8EFF6"/>
          </a:solidFill>
          <a:ln w="1905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822191"/>
            <a:ext cx="330098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background(255);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096511"/>
            <a:ext cx="3300984" cy="9052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Paints the screen white again so old frames do not smear.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49039"/>
            <a:ext cx="3520440" cy="1325880"/>
          </a:xfrm>
          <a:prstGeom prst="roundRect">
            <a:avLst/>
          </a:prstGeom>
          <a:solidFill>
            <a:srgbClr val="EEF7F5"/>
          </a:solidFill>
          <a:ln w="19050">
            <a:solidFill>
              <a:srgbClr val="EE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3822191"/>
            <a:ext cx="330098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myBlob.drawSprite();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096511"/>
            <a:ext cx="3300984" cy="9052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Draws the blob in its current position every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749039"/>
            <a:ext cx="3520440" cy="1325880"/>
          </a:xfrm>
          <a:prstGeom prst="roundRect">
            <a:avLst/>
          </a:prstGeom>
          <a:solidFill>
            <a:srgbClr val="FDF4DE"/>
          </a:solidFill>
          <a:ln w="19050">
            <a:solidFill>
              <a:srgbClr val="FD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3822191"/>
            <a:ext cx="330098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~60 times per second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096511"/>
            <a:ext cx="3300984" cy="90525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Processing repeats draw() quickly, which is why animation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5486400"/>
            <a:ext cx="7863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5650992"/>
            <a:ext cx="740664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500" b="0">
                <a:solidFill>
                  <a:srgbClr val="1C2E4A"/>
                </a:solidFill>
                <a:latin typeface="Arial"/>
              </a:rPr>
              <a:t>Teacher prompt: “If we removed background(255), what do you think would happen on screen?”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559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E4A"/>
                </a:solidFill>
                <a:latin typeface="Arial"/>
              </a:rPr>
              <a:t>RGB Color and “Make It Yours”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83D47"/>
                </a:solidFill>
                <a:latin typeface="Arial"/>
              </a:rPr>
              <a:t>Show the Color Selector so students know the numbers are something they can choose on purpose.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8458200" cy="1051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8183880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>
                <a:solidFill>
                  <a:srgbClr val="2D3E50"/>
                </a:solidFill>
                <a:latin typeface="Courier New"/>
              </a:rPr>
              <a:t>new Blob(this, 400, 300, 40, color(255, 80, 80));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1417320"/>
            <a:ext cx="1325880" cy="1325880"/>
          </a:xfrm>
          <a:prstGeom prst="ellipse">
            <a:avLst/>
          </a:prstGeom>
          <a:solidFill>
            <a:srgbClr val="FF5050"/>
          </a:solidFill>
          <a:ln w="25400">
            <a:solidFill>
              <a:srgbClr val="D95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0" y="2816352"/>
            <a:ext cx="2057400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200" b="0">
                <a:solidFill>
                  <a:srgbClr val="1C2E4A"/>
                </a:solidFill>
                <a:latin typeface="Arial"/>
              </a:rPr>
              <a:t>color(255, 80, 80)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3246120" cy="1234440"/>
          </a:xfrm>
          <a:prstGeom prst="roundRect">
            <a:avLst/>
          </a:prstGeom>
          <a:solidFill>
            <a:srgbClr val="E8EFF6"/>
          </a:solidFill>
          <a:ln w="19050"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999232"/>
            <a:ext cx="302666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RGB means red, green, 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73552"/>
            <a:ext cx="3026664" cy="81381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Each value goes from 0 to 255. More red makes the blob redder, more blue makes it bluer, and so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926080"/>
            <a:ext cx="3246120" cy="1234440"/>
          </a:xfrm>
          <a:prstGeom prst="roundRect">
            <a:avLst/>
          </a:prstGeom>
          <a:solidFill>
            <a:srgbClr val="EEF7F5"/>
          </a:solidFill>
          <a:ln w="19050">
            <a:solidFill>
              <a:srgbClr val="EE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2999232"/>
            <a:ext cx="302666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Use Tools → Color 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273552"/>
            <a:ext cx="3026664" cy="81381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Pick a color visually, then read the RGB numbers and type them into color(...).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926080"/>
            <a:ext cx="3246120" cy="1234440"/>
          </a:xfrm>
          <a:prstGeom prst="roundRect">
            <a:avLst/>
          </a:prstGeom>
          <a:solidFill>
            <a:srgbClr val="FDF4DE"/>
          </a:solidFill>
          <a:ln w="19050">
            <a:solidFill>
              <a:srgbClr val="FD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0688" y="2999232"/>
            <a:ext cx="3026664" cy="25603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1">
                <a:solidFill>
                  <a:srgbClr val="1C2E4A"/>
                </a:solidFill>
                <a:latin typeface="Arial"/>
              </a:rPr>
              <a:t>Easy student edits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273552"/>
            <a:ext cx="3026664" cy="813816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300" b="0">
                <a:solidFill>
                  <a:srgbClr val="383D47"/>
                </a:solidFill>
                <a:latin typeface="Arial"/>
              </a:rPr>
              <a:t>Change the color, the radius, the x/y position, or the background color.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754880"/>
            <a:ext cx="9875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4983480"/>
            <a:ext cx="94183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/>
            <a:r>
              <a:rPr sz="1600" b="0">
                <a:solidFill>
                  <a:srgbClr val="1C2E4A"/>
                </a:solidFill>
                <a:latin typeface="Arial"/>
              </a:rPr>
              <a:t>Direct instruction bridge: run the example once, then let students make one intentional change before adding a second blob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559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E4A"/>
                </a:solidFill>
                <a:latin typeface="Arial"/>
              </a:rPr>
              <a:t>Run the Example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83D47"/>
                </a:solidFill>
                <a:latin typeface="Arial"/>
              </a:rPr>
              <a:t>The movie is embedded in the PowerPoint. Click it during the lesson to replay the sketch.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70408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HelloBlob.mo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8680" y="1600200"/>
            <a:ext cx="667512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645920"/>
            <a:ext cx="3291840" cy="1005840"/>
          </a:xfrm>
          <a:prstGeom prst="roundRect">
            <a:avLst/>
          </a:prstGeom>
          <a:solidFill>
            <a:srgbClr val="EEF7F5"/>
          </a:solidFill>
          <a:ln w="19050">
            <a:solidFill>
              <a:srgbClr val="EE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901952"/>
            <a:ext cx="28346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sz="1400" b="0">
                <a:solidFill>
                  <a:srgbClr val="1C2E4A"/>
                </a:solidFill>
                <a:latin typeface="Arial"/>
              </a:rPr>
              <a:t>PowerPoint tip: click the movie poster to play the recording inside the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926080"/>
            <a:ext cx="3200400" cy="328295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/>
            <a:r>
              <a:rPr lang="en-US" sz="1800" b="1" dirty="0">
                <a:solidFill>
                  <a:srgbClr val="1C2E4A"/>
                </a:solidFill>
                <a:latin typeface="Arial"/>
              </a:rPr>
              <a:t>Things to remember:</a:t>
            </a:r>
            <a:endParaRPr sz="1800" b="1" dirty="0">
              <a:solidFill>
                <a:srgbClr val="1C2E4A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0" y="3291840"/>
            <a:ext cx="3154680" cy="228600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383D47"/>
                </a:solidFill>
                <a:latin typeface="Arial"/>
              </a:rPr>
              <a:t>“setup() built everything once.”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383D47"/>
                </a:solidFill>
                <a:latin typeface="Arial"/>
              </a:rPr>
              <a:t>“draw() keeps repainting the screen.”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383D47"/>
                </a:solidFill>
                <a:latin typeface="Arial"/>
              </a:rPr>
              <a:t>“Now you try changing one number on purpose.”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586</Words>
  <Application>Microsoft Macintosh PowerPoint</Application>
  <PresentationFormat>Widescreen</PresentationFormat>
  <Paragraphs>57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Cox</cp:lastModifiedBy>
  <cp:revision>2</cp:revision>
  <dcterms:created xsi:type="dcterms:W3CDTF">2013-01-27T09:14:16Z</dcterms:created>
  <dcterms:modified xsi:type="dcterms:W3CDTF">2026-06-26T12:23:04Z</dcterms:modified>
  <cp:category/>
</cp:coreProperties>
</file>